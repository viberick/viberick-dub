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VibeRick</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Jaeho Shin</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Media, Content &amp; Digital Experiences — creators reach only the viewers who speak their language. VibeRick Dub turns one video into dubbed tracks in the creator's own voice.</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pic>
        <p:nvPicPr>
          <p:cNvPr id="57" name="Picture 56" descr="logo-v.png"/>
          <p:cNvPicPr>
            <a:picLocks noChangeAspect="1"/>
          </p:cNvPicPr>
          <p:nvPr/>
        </p:nvPicPr>
        <p:blipFill>
          <a:blip r:embed="rId5"/>
          <a:stretch>
            <a:fillRect/>
          </a:stretch>
        </p:blipFill>
        <p:spPr>
          <a:xfrm>
            <a:off x="7900000" y="3150000"/>
            <a:ext cx="950000" cy="95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265350" y="1180000"/>
            <a:ext cx="5300000" cy="3700000"/>
          </a:xfrm>
          <a:prstGeom prst="rect">
            <a:avLst/>
          </a:prstGeom>
          <a:noFill/>
        </p:spPr>
        <p:txBody>
          <a:bodyPr wrap="square">
            <a:spAutoFit/>
          </a:bodyPr>
          <a:lstStyle/>
          <a:p>
            <a:pPr>
              <a:spcAft>
                <a:spcPts val="1200"/>
              </a:spcAft>
            </a:pPr>
            <a:r>
              <a:rPr sz="2200" b="1">
                <a:solidFill>
                  <a:srgbClr val="111214"/>
                </a:solidFill>
                <a:latin typeface="Arial"/>
              </a:rPr>
              <a:t>One video. Every language. Your own voice.</a:t>
            </a:r>
          </a:p>
          <a:p>
            <a:pPr>
              <a:spcAft>
                <a:spcPts val="1000"/>
              </a:spcAft>
            </a:pPr>
            <a:r>
              <a:rPr sz="1400" b="0">
                <a:solidFill>
                  <a:srgbClr val="111214"/>
                </a:solidFill>
                <a:latin typeface="Arial"/>
              </a:rPr>
              <a:t>Paste a YouTube link. An AI agent built on Gemini transcribes it, translates every sentence to fit its timing, speaks it in the creator's own cloned voice, then listens back to every line and repairs what doesn't sound right.</a:t>
            </a:r>
          </a:p>
          <a:p>
            <a:pPr>
              <a:spcAft>
                <a:spcPts val="1000"/>
              </a:spcAft>
            </a:pPr>
            <a:r>
              <a:rPr sz="1400" b="0">
                <a:solidFill>
                  <a:srgbClr val="111214"/>
                </a:solidFill>
                <a:latin typeface="Arial"/>
              </a:rPr>
              <a:t>The creator gets dubbed tracks and subtitles ready for YouTube's multi-language audio — in minutes, for cents per minute, with consent built in: the cloned voice is used only for the person who recorded it.</a:t>
            </a:r>
          </a:p>
          <a:p>
            <a:pPr>
              <a:spcAft>
                <a:spcPts val="1000"/>
              </a:spcAft>
            </a:pPr>
            <a:r>
              <a:rPr sz="1200" b="0">
                <a:solidFill>
                  <a:srgbClr val="5A5D66"/>
                </a:solidFill>
                <a:latin typeface="Arial"/>
              </a:rPr>
              <a:t>Languages today: Korean · English · Japanese · Chinese (source detected automatically).</a:t>
            </a:r>
          </a:p>
        </p:txBody>
      </p:sp>
      <p:pic>
        <p:nvPicPr>
          <p:cNvPr id="73" name="Picture 72" descr="shot-studio-en.png"/>
          <p:cNvPicPr>
            <a:picLocks noChangeAspect="1"/>
          </p:cNvPicPr>
          <p:nvPr/>
        </p:nvPicPr>
        <p:blipFill>
          <a:blip r:embed="rId4"/>
          <a:stretch>
            <a:fillRect/>
          </a:stretch>
        </p:blipFill>
        <p:spPr>
          <a:xfrm>
            <a:off x="5750000" y="2045625"/>
            <a:ext cx="3150000" cy="19687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TextBox 79"/>
          <p:cNvSpPr txBox="1"/>
          <p:nvPr/>
        </p:nvSpPr>
        <p:spPr>
          <a:xfrm>
            <a:off x="265350" y="1180000"/>
            <a:ext cx="8613300" cy="3800000"/>
          </a:xfrm>
          <a:prstGeom prst="rect">
            <a:avLst/>
          </a:prstGeom>
          <a:noFill/>
        </p:spPr>
        <p:txBody>
          <a:bodyPr wrap="square">
            <a:spAutoFit/>
          </a:bodyPr>
          <a:lstStyle/>
          <a:p>
            <a:pPr>
              <a:spcAft>
                <a:spcPts val="700"/>
              </a:spcAft>
            </a:pPr>
            <a:r>
              <a:rPr sz="1400" b="1">
                <a:solidFill>
                  <a:srgbClr val="111214"/>
                </a:solidFill>
                <a:latin typeface="Arial"/>
              </a:rPr>
              <a:t>How is it different from existing ideas?</a:t>
            </a:r>
          </a:p>
          <a:p>
            <a:pPr>
              <a:spcAft>
                <a:spcPts val="700"/>
              </a:spcAft>
            </a:pPr>
            <a:r>
              <a:rPr sz="1300" b="0">
                <a:solidFill>
                  <a:srgbClr val="111214"/>
                </a:solidFill>
                <a:latin typeface="Arial"/>
              </a:rPr>
              <a:t>•  YouTube auto-dubbing: not the creator's voice, cannot be edited, and Korean sources get only English and Indonesian. VibeRick Dub speaks in the creator's own voice, in any of our languages, and shows every line.</a:t>
            </a:r>
          </a:p>
          <a:p>
            <a:pPr>
              <a:spcAft>
                <a:spcPts val="700"/>
              </a:spcAft>
            </a:pPr>
            <a:r>
              <a:rPr sz="1300" b="0">
                <a:solidFill>
                  <a:srgbClr val="111214"/>
                </a:solidFill>
                <a:latin typeface="Arial"/>
              </a:rPr>
              <a:t>•  Voice-clone dubbing services (ElevenLabs, Rask, Perso) charge ~$0.33–2.20 per minute and run open-loop. Our agent listens to every dubbed line with Gemini and repairs it, for ~$0.05 per dubbed minute.</a:t>
            </a:r>
          </a:p>
          <a:p>
            <a:pPr>
              <a:spcAft>
                <a:spcPts val="700"/>
              </a:spcAft>
            </a:pPr>
            <a:r>
              <a:rPr sz="1400" b="1">
                <a:solidFill>
                  <a:srgbClr val="111214"/>
                </a:solidFill>
                <a:latin typeface="Arial"/>
              </a:rPr>
              <a:t>How will it solve the problem?</a:t>
            </a:r>
          </a:p>
          <a:p>
            <a:pPr>
              <a:spcAft>
                <a:spcPts val="700"/>
              </a:spcAft>
            </a:pPr>
            <a:r>
              <a:rPr sz="1300" b="0">
                <a:solidFill>
                  <a:srgbClr val="111214"/>
                </a:solidFill>
                <a:latin typeface="Arial"/>
              </a:rPr>
              <a:t>•  YouTube: creators who add multi-language audio get over 25% of watch time from other languages. VibeRick Dub makes that track a one-link job instead of a studio booking.</a:t>
            </a:r>
          </a:p>
          <a:p>
            <a:pPr>
              <a:spcAft>
                <a:spcPts val="700"/>
              </a:spcAft>
            </a:pPr>
            <a:r>
              <a:rPr sz="1400" b="1">
                <a:solidFill>
                  <a:srgbClr val="111214"/>
                </a:solidFill>
                <a:latin typeface="Arial"/>
              </a:rPr>
              <a:t>USP</a:t>
            </a:r>
          </a:p>
          <a:p>
            <a:pPr>
              <a:spcAft>
                <a:spcPts val="700"/>
              </a:spcAft>
            </a:pPr>
            <a:r>
              <a:rPr sz="1300" b="0">
                <a:solidFill>
                  <a:srgbClr val="111214"/>
                </a:solidFill>
                <a:latin typeface="Arial"/>
              </a:rPr>
              <a:t>•  Own voice + time-fitted translation + a self-verifying agent + consent by design (two locks: channel consent and speaker verification), all on Google Cloud.</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TextBox 87"/>
          <p:cNvSpPr txBox="1"/>
          <p:nvPr/>
        </p:nvSpPr>
        <p:spPr>
          <a:xfrm>
            <a:off x="265350" y="1180000"/>
            <a:ext cx="4200000" cy="880000"/>
          </a:xfrm>
          <a:prstGeom prst="rect">
            <a:avLst/>
          </a:prstGeom>
          <a:noFill/>
        </p:spPr>
        <p:txBody>
          <a:bodyPr wrap="square">
            <a:spAutoFit/>
          </a:bodyPr>
          <a:lstStyle/>
          <a:p>
            <a:pPr>
              <a:spcAft>
                <a:spcPts val="300"/>
              </a:spcAft>
            </a:pPr>
            <a:r>
              <a:rPr sz="1400" b="1">
                <a:solidFill>
                  <a:srgbClr val="111214"/>
                </a:solidFill>
                <a:latin typeface="Arial"/>
              </a:rPr>
              <a:t>Creator's own voice</a:t>
            </a:r>
          </a:p>
          <a:p>
            <a:pPr>
              <a:spcAft>
                <a:spcPts val="600"/>
              </a:spcAft>
            </a:pPr>
            <a:r>
              <a:rPr sz="1200" b="0">
                <a:solidFill>
                  <a:srgbClr val="5A5D66"/>
                </a:solidFill>
                <a:latin typeface="Arial"/>
              </a:rPr>
              <a:t>Gemini 3.8 Flash TTS voice replication from a 20 s sample + spoken consent</a:t>
            </a:r>
          </a:p>
        </p:txBody>
      </p:sp>
      <p:sp>
        <p:nvSpPr>
          <p:cNvPr id="89" name="TextBox 88"/>
          <p:cNvSpPr txBox="1"/>
          <p:nvPr/>
        </p:nvSpPr>
        <p:spPr>
          <a:xfrm>
            <a:off x="4615350" y="1180000"/>
            <a:ext cx="4200000" cy="880000"/>
          </a:xfrm>
          <a:prstGeom prst="rect">
            <a:avLst/>
          </a:prstGeom>
          <a:noFill/>
        </p:spPr>
        <p:txBody>
          <a:bodyPr wrap="square">
            <a:spAutoFit/>
          </a:bodyPr>
          <a:lstStyle/>
          <a:p>
            <a:pPr>
              <a:spcAft>
                <a:spcPts val="300"/>
              </a:spcAft>
            </a:pPr>
            <a:r>
              <a:rPr sz="1400" b="1">
                <a:solidFill>
                  <a:srgbClr val="111214"/>
                </a:solidFill>
                <a:latin typeface="Arial"/>
              </a:rPr>
              <a:t>Translation that fits the clock</a:t>
            </a:r>
          </a:p>
          <a:p>
            <a:pPr>
              <a:spcAft>
                <a:spcPts val="600"/>
              </a:spcAft>
            </a:pPr>
            <a:r>
              <a:rPr sz="1200" b="0">
                <a:solidFill>
                  <a:srgbClr val="5A5D66"/>
                </a:solidFill>
                <a:latin typeface="Arial"/>
              </a:rPr>
              <a:t>Each sentence gets a character budget from its time slot and the voice's measured speed</a:t>
            </a:r>
          </a:p>
        </p:txBody>
      </p:sp>
      <p:sp>
        <p:nvSpPr>
          <p:cNvPr id="90" name="TextBox 89"/>
          <p:cNvSpPr txBox="1"/>
          <p:nvPr/>
        </p:nvSpPr>
        <p:spPr>
          <a:xfrm>
            <a:off x="265350" y="2110000"/>
            <a:ext cx="4200000" cy="880000"/>
          </a:xfrm>
          <a:prstGeom prst="rect">
            <a:avLst/>
          </a:prstGeom>
          <a:noFill/>
        </p:spPr>
        <p:txBody>
          <a:bodyPr wrap="square">
            <a:spAutoFit/>
          </a:bodyPr>
          <a:lstStyle/>
          <a:p>
            <a:pPr>
              <a:spcAft>
                <a:spcPts val="300"/>
              </a:spcAft>
            </a:pPr>
            <a:r>
              <a:rPr sz="1400" b="1">
                <a:solidFill>
                  <a:srgbClr val="111214"/>
                </a:solidFill>
                <a:latin typeface="Arial"/>
              </a:rPr>
              <a:t>Self-verifying agent</a:t>
            </a:r>
          </a:p>
          <a:p>
            <a:pPr>
              <a:spcAft>
                <a:spcPts val="600"/>
              </a:spcAft>
            </a:pPr>
            <a:r>
              <a:rPr sz="1200" b="0">
                <a:solidFill>
                  <a:srgbClr val="5A5D66"/>
                </a:solidFill>
                <a:latin typeface="Arial"/>
              </a:rPr>
              <a:t>Gemini listens to every dubbed line; too long → shorten, wrong → re-speak → re-translate → flag</a:t>
            </a:r>
          </a:p>
        </p:txBody>
      </p:sp>
      <p:sp>
        <p:nvSpPr>
          <p:cNvPr id="91" name="TextBox 90"/>
          <p:cNvSpPr txBox="1"/>
          <p:nvPr/>
        </p:nvSpPr>
        <p:spPr>
          <a:xfrm>
            <a:off x="4615350" y="2110000"/>
            <a:ext cx="4200000" cy="880000"/>
          </a:xfrm>
          <a:prstGeom prst="rect">
            <a:avLst/>
          </a:prstGeom>
          <a:noFill/>
        </p:spPr>
        <p:txBody>
          <a:bodyPr wrap="square">
            <a:spAutoFit/>
          </a:bodyPr>
          <a:lstStyle/>
          <a:p>
            <a:pPr>
              <a:spcAft>
                <a:spcPts val="300"/>
              </a:spcAft>
            </a:pPr>
            <a:r>
              <a:rPr sz="1400" b="1">
                <a:solidFill>
                  <a:srgbClr val="111214"/>
                </a:solidFill>
                <a:latin typeface="Arial"/>
              </a:rPr>
              <a:t>Accurate transcript</a:t>
            </a:r>
          </a:p>
          <a:p>
            <a:pPr>
              <a:spcAft>
                <a:spcPts val="600"/>
              </a:spcAft>
            </a:pPr>
            <a:r>
              <a:rPr sz="1200" b="0">
                <a:solidFill>
                  <a:srgbClr val="5A5D66"/>
                </a:solidFill>
                <a:latin typeface="Arial"/>
              </a:rPr>
              <a:t>Chirp 3 timings + Gemini proofreading by listening (7.6% CER, on par with the best tool we tested)</a:t>
            </a:r>
          </a:p>
        </p:txBody>
      </p:sp>
      <p:sp>
        <p:nvSpPr>
          <p:cNvPr id="92" name="TextBox 91"/>
          <p:cNvSpPr txBox="1"/>
          <p:nvPr/>
        </p:nvSpPr>
        <p:spPr>
          <a:xfrm>
            <a:off x="265350" y="3040000"/>
            <a:ext cx="4200000" cy="880000"/>
          </a:xfrm>
          <a:prstGeom prst="rect">
            <a:avLst/>
          </a:prstGeom>
          <a:noFill/>
        </p:spPr>
        <p:txBody>
          <a:bodyPr wrap="square">
            <a:spAutoFit/>
          </a:bodyPr>
          <a:lstStyle/>
          <a:p>
            <a:pPr>
              <a:spcAft>
                <a:spcPts val="300"/>
              </a:spcAft>
            </a:pPr>
            <a:r>
              <a:rPr sz="1400" b="1">
                <a:solidFill>
                  <a:srgbClr val="111214"/>
                </a:solidFill>
                <a:latin typeface="Arial"/>
              </a:rPr>
              <a:t>Multi-speaker</a:t>
            </a:r>
          </a:p>
          <a:p>
            <a:pPr>
              <a:spcAft>
                <a:spcPts val="600"/>
              </a:spcAft>
            </a:pPr>
            <a:r>
              <a:rPr sz="1200" b="0">
                <a:solidFill>
                  <a:srgbClr val="5A5D66"/>
                </a:solidFill>
                <a:latin typeface="Arial"/>
              </a:rPr>
              <a:t>Chirp 3 diarization; Gemini casts a fitting preset voice for every other speaker</a:t>
            </a:r>
          </a:p>
        </p:txBody>
      </p:sp>
      <p:sp>
        <p:nvSpPr>
          <p:cNvPr id="93" name="TextBox 92"/>
          <p:cNvSpPr txBox="1"/>
          <p:nvPr/>
        </p:nvSpPr>
        <p:spPr>
          <a:xfrm>
            <a:off x="4615350" y="3040000"/>
            <a:ext cx="4200000" cy="880000"/>
          </a:xfrm>
          <a:prstGeom prst="rect">
            <a:avLst/>
          </a:prstGeom>
          <a:noFill/>
        </p:spPr>
        <p:txBody>
          <a:bodyPr wrap="square">
            <a:spAutoFit/>
          </a:bodyPr>
          <a:lstStyle/>
          <a:p>
            <a:pPr>
              <a:spcAft>
                <a:spcPts val="300"/>
              </a:spcAft>
            </a:pPr>
            <a:r>
              <a:rPr sz="1400" b="1">
                <a:solidFill>
                  <a:srgbClr val="111214"/>
                </a:solidFill>
                <a:latin typeface="Arial"/>
              </a:rPr>
              <a:t>Consent lock</a:t>
            </a:r>
          </a:p>
          <a:p>
            <a:pPr>
              <a:spcAft>
                <a:spcPts val="600"/>
              </a:spcAft>
            </a:pPr>
            <a:r>
              <a:rPr sz="1200" b="0">
                <a:solidFill>
                  <a:srgbClr val="5A5D66"/>
                </a:solidFill>
                <a:latin typeface="Arial"/>
              </a:rPr>
              <a:t>Clone only for the channel owner whose voice verifies against the consent recording</a:t>
            </a:r>
          </a:p>
        </p:txBody>
      </p:sp>
      <p:sp>
        <p:nvSpPr>
          <p:cNvPr id="94" name="TextBox 93"/>
          <p:cNvSpPr txBox="1"/>
          <p:nvPr/>
        </p:nvSpPr>
        <p:spPr>
          <a:xfrm>
            <a:off x="265350" y="3970000"/>
            <a:ext cx="4200000" cy="880000"/>
          </a:xfrm>
          <a:prstGeom prst="rect">
            <a:avLst/>
          </a:prstGeom>
          <a:noFill/>
        </p:spPr>
        <p:txBody>
          <a:bodyPr wrap="square">
            <a:spAutoFit/>
          </a:bodyPr>
          <a:lstStyle/>
          <a:p>
            <a:pPr>
              <a:spcAft>
                <a:spcPts val="300"/>
              </a:spcAft>
            </a:pPr>
            <a:r>
              <a:rPr sz="1400" b="1">
                <a:solidFill>
                  <a:srgbClr val="111214"/>
                </a:solidFill>
                <a:latin typeface="Arial"/>
              </a:rPr>
              <a:t>Live studio</a:t>
            </a:r>
          </a:p>
          <a:p>
            <a:pPr>
              <a:spcAft>
                <a:spcPts val="600"/>
              </a:spcAft>
            </a:pPr>
            <a:r>
              <a:rPr sz="1200" b="0">
                <a:solidFill>
                  <a:srgbClr val="5A5D66"/>
                </a:solidFill>
                <a:latin typeface="Arial"/>
              </a:rPr>
              <a:t>Watch the agent work in real time; switch languages on the video; synced transcript</a:t>
            </a:r>
          </a:p>
        </p:txBody>
      </p:sp>
      <p:sp>
        <p:nvSpPr>
          <p:cNvPr id="95" name="TextBox 94"/>
          <p:cNvSpPr txBox="1"/>
          <p:nvPr/>
        </p:nvSpPr>
        <p:spPr>
          <a:xfrm>
            <a:off x="4615350" y="3970000"/>
            <a:ext cx="4200000" cy="880000"/>
          </a:xfrm>
          <a:prstGeom prst="rect">
            <a:avLst/>
          </a:prstGeom>
          <a:noFill/>
        </p:spPr>
        <p:txBody>
          <a:bodyPr wrap="square">
            <a:spAutoFit/>
          </a:bodyPr>
          <a:lstStyle/>
          <a:p>
            <a:pPr>
              <a:spcAft>
                <a:spcPts val="300"/>
              </a:spcAft>
            </a:pPr>
            <a:r>
              <a:rPr sz="1400" b="1">
                <a:solidFill>
                  <a:srgbClr val="111214"/>
                </a:solidFill>
                <a:latin typeface="Arial"/>
              </a:rPr>
              <a:t>Ready to upload</a:t>
            </a:r>
          </a:p>
          <a:p>
            <a:pPr>
              <a:spcAft>
                <a:spcPts val="600"/>
              </a:spcAft>
            </a:pPr>
            <a:r>
              <a:rPr sz="1200" b="0">
                <a:solidFill>
                  <a:srgbClr val="5A5D66"/>
                </a:solidFill>
                <a:latin typeface="Arial"/>
              </a:rPr>
              <a:t>Dubbed MP4 + M4A (−14 LUFS, original music kept) + SRT/VTT subtitles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Process flow diagram</a:t>
            </a:r>
            <a:endParaRPr sz="1600">
              <a:latin typeface="Google Sans Flex Medium"/>
              <a:ea typeface="Google Sans Flex Medium"/>
              <a:cs typeface="Google Sans Flex Medium"/>
              <a:sym typeface="Google Sans Flex Medium"/>
            </a:endParaRPr>
          </a:p>
        </p:txBody>
      </p:sp>
      <p:pic>
        <p:nvPicPr>
          <p:cNvPr id="96" name="Picture 95" descr="flow.png"/>
          <p:cNvPicPr>
            <a:picLocks noChangeAspect="1"/>
          </p:cNvPicPr>
          <p:nvPr/>
        </p:nvPicPr>
        <p:blipFill>
          <a:blip r:embed="rId5"/>
          <a:stretch>
            <a:fillRect/>
          </a:stretch>
        </p:blipFill>
        <p:spPr>
          <a:xfrm>
            <a:off x="265350" y="1626506"/>
            <a:ext cx="8613300" cy="29069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Wireframes / mock: the live product</a:t>
            </a:r>
            <a:endParaRPr sz="1600">
              <a:latin typeface="Google Sans Flex Medium"/>
              <a:ea typeface="Google Sans Flex Medium"/>
              <a:cs typeface="Google Sans Flex Medium"/>
              <a:sym typeface="Google Sans Flex Medium"/>
            </a:endParaRPr>
          </a:p>
        </p:txBody>
      </p:sp>
      <p:pic>
        <p:nvPicPr>
          <p:cNvPr id="104" name="Picture 103" descr="shot-hero.png"/>
          <p:cNvPicPr>
            <a:picLocks noChangeAspect="1"/>
          </p:cNvPicPr>
          <p:nvPr/>
        </p:nvPicPr>
        <p:blipFill>
          <a:blip r:embed="rId5"/>
          <a:stretch>
            <a:fillRect/>
          </a:stretch>
        </p:blipFill>
        <p:spPr>
          <a:xfrm>
            <a:off x="275350" y="1180000"/>
            <a:ext cx="6080000" cy="3800000"/>
          </a:xfrm>
          <a:prstGeom prst="rect">
            <a:avLst/>
          </a:prstGeom>
        </p:spPr>
      </p:pic>
      <p:pic>
        <p:nvPicPr>
          <p:cNvPr id="105" name="Picture 104" descr="shot-mobile.png"/>
          <p:cNvPicPr>
            <a:picLocks noChangeAspect="1"/>
          </p:cNvPicPr>
          <p:nvPr/>
        </p:nvPicPr>
        <p:blipFill>
          <a:blip r:embed="rId6"/>
          <a:stretch>
            <a:fillRect/>
          </a:stretch>
        </p:blipFill>
        <p:spPr>
          <a:xfrm>
            <a:off x="6822038" y="1180000"/>
            <a:ext cx="1755924" cy="380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pic>
        <p:nvPicPr>
          <p:cNvPr id="112" name="Picture 111" descr="arch.png"/>
          <p:cNvPicPr>
            <a:picLocks noChangeAspect="1"/>
          </p:cNvPicPr>
          <p:nvPr/>
        </p:nvPicPr>
        <p:blipFill>
          <a:blip r:embed="rId5"/>
          <a:stretch>
            <a:fillRect/>
          </a:stretch>
        </p:blipFill>
        <p:spPr>
          <a:xfrm>
            <a:off x="572000" y="1180000"/>
            <a:ext cx="8000000" cy="380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Technologies used in the solution</a:t>
            </a:r>
            <a:endParaRPr sz="1600">
              <a:latin typeface="Google Sans Flex Medium"/>
              <a:ea typeface="Google Sans Flex Medium"/>
              <a:cs typeface="Google Sans Flex Medium"/>
              <a:sym typeface="Google Sans Flex Medium"/>
            </a:endParaRPr>
          </a:p>
        </p:txBody>
      </p:sp>
      <p:graphicFrame>
        <p:nvGraphicFramePr>
          <p:cNvPr id="120" name="Table 119"/>
          <p:cNvGraphicFramePr>
            <a:graphicFrameLocks noGrp="1"/>
          </p:cNvGraphicFramePr>
          <p:nvPr/>
        </p:nvGraphicFramePr>
        <p:xfrm>
          <a:off x="265350" y="1180000"/>
          <a:ext cx="8613300" cy="3300000"/>
        </p:xfrm>
        <a:graphic>
          <a:graphicData uri="http://schemas.openxmlformats.org/drawingml/2006/table">
            <a:tbl>
              <a:tblPr firstRow="1" bandRow="1">
                <a:tableStyleId>{5C22544A-7EE6-4342-B048-85BDC9FD1C3A}</a:tableStyleId>
              </a:tblPr>
              <a:tblGrid>
                <a:gridCol w="3100788"/>
                <a:gridCol w="5512512"/>
              </a:tblGrid>
              <a:tr h="330000">
                <a:tc>
                  <a:txBody>
                    <a:bodyPr/>
                    <a:lstStyle/>
                    <a:p>
                      <a:r>
                        <a:rPr sz="1100" b="1">
                          <a:solidFill>
                            <a:srgbClr val="FFFFFF"/>
                          </a:solidFill>
                          <a:latin typeface="Arial"/>
                        </a:rPr>
                        <a:t>Technology</a:t>
                      </a:r>
                    </a:p>
                  </a:txBody>
                  <a:tcPr marL="70000" marR="70000" marT="30000" marB="30000">
                    <a:solidFill>
                      <a:srgbClr val="111214"/>
                    </a:solidFill>
                  </a:tcPr>
                </a:tc>
                <a:tc>
                  <a:txBody>
                    <a:bodyPr/>
                    <a:lstStyle/>
                    <a:p>
                      <a:r>
                        <a:rPr sz="1100" b="1">
                          <a:solidFill>
                            <a:srgbClr val="FFFFFF"/>
                          </a:solidFill>
                          <a:latin typeface="Arial"/>
                        </a:rPr>
                        <a:t>Role</a:t>
                      </a:r>
                    </a:p>
                  </a:txBody>
                  <a:tcPr marL="70000" marR="70000" marT="30000" marB="30000">
                    <a:solidFill>
                      <a:srgbClr val="111214"/>
                    </a:solidFill>
                  </a:tcPr>
                </a:tc>
              </a:tr>
              <a:tr h="330000">
                <a:tc>
                  <a:txBody>
                    <a:bodyPr/>
                    <a:lstStyle/>
                    <a:p>
                      <a:r>
                        <a:rPr sz="1100" b="0">
                          <a:solidFill>
                            <a:srgbClr val="111214"/>
                          </a:solidFill>
                          <a:latin typeface="Arial"/>
                        </a:rPr>
                        <a:t>Gemini 3.8 Flash (Vertex AI)</a:t>
                      </a:r>
                    </a:p>
                  </a:txBody>
                  <a:tcPr marL="70000" marR="70000" marT="30000" marB="30000">
                    <a:solidFill>
                      <a:srgbClr val="FFFFFF"/>
                    </a:solidFill>
                  </a:tcPr>
                </a:tc>
                <a:tc>
                  <a:txBody>
                    <a:bodyPr/>
                    <a:lstStyle/>
                    <a:p>
                      <a:r>
                        <a:rPr sz="1100" b="0">
                          <a:solidFill>
                            <a:srgbClr val="111214"/>
                          </a:solidFill>
                          <a:latin typeface="Arial"/>
                        </a:rPr>
                        <a:t>Proofread by listening · dubbing brief · translate to time · shorten · judge every clip · cast voices</a:t>
                      </a:r>
                    </a:p>
                  </a:txBody>
                  <a:tcPr marL="70000" marR="70000" marT="30000" marB="30000">
                    <a:solidFill>
                      <a:srgbClr val="FFFFFF"/>
                    </a:solidFill>
                  </a:tcPr>
                </a:tc>
              </a:tr>
              <a:tr h="330000">
                <a:tc>
                  <a:txBody>
                    <a:bodyPr/>
                    <a:lstStyle/>
                    <a:p>
                      <a:r>
                        <a:rPr sz="1100" b="0">
                          <a:solidFill>
                            <a:srgbClr val="111214"/>
                          </a:solidFill>
                          <a:latin typeface="Arial"/>
                        </a:rPr>
                        <a:t>Gemini 3.8 Flash TTS — voice replication</a:t>
                      </a:r>
                    </a:p>
                  </a:txBody>
                  <a:tcPr marL="70000" marR="70000" marT="30000" marB="30000">
                    <a:solidFill>
                      <a:srgbClr val="F3F6FF"/>
                    </a:solidFill>
                  </a:tcPr>
                </a:tc>
                <a:tc>
                  <a:txBody>
                    <a:bodyPr/>
                    <a:lstStyle/>
                    <a:p>
                      <a:r>
                        <a:rPr sz="1100" b="0">
                          <a:solidFill>
                            <a:srgbClr val="111214"/>
                          </a:solidFill>
                          <a:latin typeface="Arial"/>
                        </a:rPr>
                        <a:t>The creator's own voice in other languages (SynthID watermarked)</a:t>
                      </a:r>
                    </a:p>
                  </a:txBody>
                  <a:tcPr marL="70000" marR="70000" marT="30000" marB="30000">
                    <a:solidFill>
                      <a:srgbClr val="F3F6FF"/>
                    </a:solidFill>
                  </a:tcPr>
                </a:tc>
              </a:tr>
              <a:tr h="330000">
                <a:tc>
                  <a:txBody>
                    <a:bodyPr/>
                    <a:lstStyle/>
                    <a:p>
                      <a:r>
                        <a:rPr sz="1100" b="0">
                          <a:solidFill>
                            <a:srgbClr val="111214"/>
                          </a:solidFill>
                          <a:latin typeface="Arial"/>
                        </a:rPr>
                        <a:t>Chirp 3 (Speech-to-Text v2)</a:t>
                      </a:r>
                    </a:p>
                  </a:txBody>
                  <a:tcPr marL="70000" marR="70000" marT="30000" marB="30000">
                    <a:solidFill>
                      <a:srgbClr val="FFFFFF"/>
                    </a:solidFill>
                  </a:tcPr>
                </a:tc>
                <a:tc>
                  <a:txBody>
                    <a:bodyPr/>
                    <a:lstStyle/>
                    <a:p>
                      <a:r>
                        <a:rPr sz="1100" b="0">
                          <a:solidFill>
                            <a:srgbClr val="111214"/>
                          </a:solidFill>
                          <a:latin typeface="Arial"/>
                        </a:rPr>
                        <a:t>Word timestamps + speaker diarization — the timing backbone</a:t>
                      </a:r>
                    </a:p>
                  </a:txBody>
                  <a:tcPr marL="70000" marR="70000" marT="30000" marB="30000">
                    <a:solidFill>
                      <a:srgbClr val="FFFFFF"/>
                    </a:solidFill>
                  </a:tcPr>
                </a:tc>
              </a:tr>
              <a:tr h="330000">
                <a:tc>
                  <a:txBody>
                    <a:bodyPr/>
                    <a:lstStyle/>
                    <a:p>
                      <a:r>
                        <a:rPr sz="1100" b="0">
                          <a:solidFill>
                            <a:srgbClr val="111214"/>
                          </a:solidFill>
                          <a:latin typeface="Arial"/>
                        </a:rPr>
                        <a:t>Cloud Run (service + Job)</a:t>
                      </a:r>
                    </a:p>
                  </a:txBody>
                  <a:tcPr marL="70000" marR="70000" marT="30000" marB="30000">
                    <a:solidFill>
                      <a:srgbClr val="F3F6FF"/>
                    </a:solidFill>
                  </a:tcPr>
                </a:tc>
                <a:tc>
                  <a:txBody>
                    <a:bodyPr/>
                    <a:lstStyle/>
                    <a:p>
                      <a:r>
                        <a:rPr sz="1100" b="0">
                          <a:solidFill>
                            <a:srgbClr val="111214"/>
                          </a:solidFill>
                          <a:latin typeface="Arial"/>
                        </a:rPr>
                        <a:t>FastAPI API · dubbing worker (4 vCPU, demucs, ECAPA, ffmpeg)</a:t>
                      </a:r>
                    </a:p>
                  </a:txBody>
                  <a:tcPr marL="70000" marR="70000" marT="30000" marB="30000">
                    <a:solidFill>
                      <a:srgbClr val="F3F6FF"/>
                    </a:solidFill>
                  </a:tcPr>
                </a:tc>
              </a:tr>
              <a:tr h="330000">
                <a:tc>
                  <a:txBody>
                    <a:bodyPr/>
                    <a:lstStyle/>
                    <a:p>
                      <a:r>
                        <a:rPr sz="1100" b="0">
                          <a:solidFill>
                            <a:srgbClr val="111214"/>
                          </a:solidFill>
                          <a:latin typeface="Arial"/>
                        </a:rPr>
                        <a:t>Firestore</a:t>
                      </a:r>
                    </a:p>
                  </a:txBody>
                  <a:tcPr marL="70000" marR="70000" marT="30000" marB="30000">
                    <a:solidFill>
                      <a:srgbClr val="FFFFFF"/>
                    </a:solidFill>
                  </a:tcPr>
                </a:tc>
                <a:tc>
                  <a:txBody>
                    <a:bodyPr/>
                    <a:lstStyle/>
                    <a:p>
                      <a:r>
                        <a:rPr sz="1100" b="0">
                          <a:solidFill>
                            <a:srgbClr val="111214"/>
                          </a:solidFill>
                          <a:latin typeface="Arial"/>
                        </a:rPr>
                        <a:t>Jobs, live agent event stream, per-line results (realtime listeners)</a:t>
                      </a:r>
                    </a:p>
                  </a:txBody>
                  <a:tcPr marL="70000" marR="70000" marT="30000" marB="30000">
                    <a:solidFill>
                      <a:srgbClr val="FFFFFF"/>
                    </a:solidFill>
                  </a:tcPr>
                </a:tc>
              </a:tr>
              <a:tr h="330000">
                <a:tc>
                  <a:txBody>
                    <a:bodyPr/>
                    <a:lstStyle/>
                    <a:p>
                      <a:r>
                        <a:rPr sz="1100" b="0">
                          <a:solidFill>
                            <a:srgbClr val="111214"/>
                          </a:solidFill>
                          <a:latin typeface="Arial"/>
                        </a:rPr>
                        <a:t>Firebase Hosting</a:t>
                      </a:r>
                    </a:p>
                  </a:txBody>
                  <a:tcPr marL="70000" marR="70000" marT="30000" marB="30000">
                    <a:solidFill>
                      <a:srgbClr val="F3F6FF"/>
                    </a:solidFill>
                  </a:tcPr>
                </a:tc>
                <a:tc>
                  <a:txBody>
                    <a:bodyPr/>
                    <a:lstStyle/>
                    <a:p>
                      <a:r>
                        <a:rPr sz="1100" b="0">
                          <a:solidFill>
                            <a:srgbClr val="111214"/>
                          </a:solidFill>
                          <a:latin typeface="Arial"/>
                        </a:rPr>
                        <a:t>Web app; /api/** rewritten to Cloud Run</a:t>
                      </a:r>
                    </a:p>
                  </a:txBody>
                  <a:tcPr marL="70000" marR="70000" marT="30000" marB="30000">
                    <a:solidFill>
                      <a:srgbClr val="F3F6FF"/>
                    </a:solidFill>
                  </a:tcPr>
                </a:tc>
              </a:tr>
              <a:tr h="330000">
                <a:tc>
                  <a:txBody>
                    <a:bodyPr/>
                    <a:lstStyle/>
                    <a:p>
                      <a:r>
                        <a:rPr sz="1100" b="0">
                          <a:solidFill>
                            <a:srgbClr val="111214"/>
                          </a:solidFill>
                          <a:latin typeface="Arial"/>
                        </a:rPr>
                        <a:t>Cloud Storage</a:t>
                      </a:r>
                    </a:p>
                  </a:txBody>
                  <a:tcPr marL="70000" marR="70000" marT="30000" marB="30000">
                    <a:solidFill>
                      <a:srgbClr val="FFFFFF"/>
                    </a:solidFill>
                  </a:tcPr>
                </a:tc>
                <a:tc>
                  <a:txBody>
                    <a:bodyPr/>
                    <a:lstStyle/>
                    <a:p>
                      <a:r>
                        <a:rPr sz="1100" b="0">
                          <a:solidFill>
                            <a:srgbClr val="111214"/>
                          </a:solidFill>
                          <a:latin typeface="Arial"/>
                        </a:rPr>
                        <a:t>Batch STT input; public dubbed MP4/M4A/SRT/VTT</a:t>
                      </a:r>
                    </a:p>
                  </a:txBody>
                  <a:tcPr marL="70000" marR="70000" marT="30000" marB="30000">
                    <a:solidFill>
                      <a:srgbClr val="FFFFFF"/>
                    </a:solidFill>
                  </a:tcPr>
                </a:tc>
              </a:tr>
              <a:tr h="330000">
                <a:tc>
                  <a:txBody>
                    <a:bodyPr/>
                    <a:lstStyle/>
                    <a:p>
                      <a:r>
                        <a:rPr sz="1100" b="0">
                          <a:solidFill>
                            <a:srgbClr val="111214"/>
                          </a:solidFill>
                          <a:latin typeface="Arial"/>
                        </a:rPr>
                        <a:t>Secret Manager · Artifact Registry · Cloud Build</a:t>
                      </a:r>
                    </a:p>
                  </a:txBody>
                  <a:tcPr marL="70000" marR="70000" marT="30000" marB="30000">
                    <a:solidFill>
                      <a:srgbClr val="F3F6FF"/>
                    </a:solidFill>
                  </a:tcPr>
                </a:tc>
                <a:tc>
                  <a:txBody>
                    <a:bodyPr/>
                    <a:lstStyle/>
                    <a:p>
                      <a:r>
                        <a:rPr sz="1100" b="0">
                          <a:solidFill>
                            <a:srgbClr val="111214"/>
                          </a:solidFill>
                          <a:latin typeface="Arial"/>
                        </a:rPr>
                        <a:t>Keys · container image · builds</a:t>
                      </a:r>
                    </a:p>
                  </a:txBody>
                  <a:tcPr marL="70000" marR="70000" marT="30000" marB="30000">
                    <a:solidFill>
                      <a:srgbClr val="F3F6FF"/>
                    </a:solidFill>
                  </a:tcPr>
                </a:tc>
              </a:tr>
              <a:tr h="330000">
                <a:tc>
                  <a:txBody>
                    <a:bodyPr/>
                    <a:lstStyle/>
                    <a:p>
                      <a:r>
                        <a:rPr sz="1100" b="0">
                          <a:solidFill>
                            <a:srgbClr val="111214"/>
                          </a:solidFill>
                          <a:latin typeface="Arial"/>
                        </a:rPr>
                        <a:t>Open source</a:t>
                      </a:r>
                    </a:p>
                  </a:txBody>
                  <a:tcPr marL="70000" marR="70000" marT="30000" marB="30000">
                    <a:solidFill>
                      <a:srgbClr val="FFFFFF"/>
                    </a:solidFill>
                  </a:tcPr>
                </a:tc>
                <a:tc>
                  <a:txBody>
                    <a:bodyPr/>
                    <a:lstStyle/>
                    <a:p>
                      <a:r>
                        <a:rPr sz="1100" b="0">
                          <a:solidFill>
                            <a:srgbClr val="111214"/>
                          </a:solidFill>
                          <a:latin typeface="Arial"/>
                        </a:rPr>
                        <a:t>demucs (music bed), ECAPA-TDNN (speaker verification for the consent lock), yt-dlp, ffmpeg</a:t>
                      </a:r>
                    </a:p>
                  </a:txBody>
                  <a:tcPr marL="70000" marR="70000" marT="30000" marB="30000">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Estimated implementation cost</a:t>
            </a:r>
            <a:endParaRPr sz="1600">
              <a:latin typeface="Google Sans Flex Medium"/>
              <a:ea typeface="Google Sans Flex Medium"/>
              <a:cs typeface="Google Sans Flex Medium"/>
              <a:sym typeface="Google Sans Flex Medium"/>
            </a:endParaRPr>
          </a:p>
        </p:txBody>
      </p:sp>
      <p:graphicFrame>
        <p:nvGraphicFramePr>
          <p:cNvPr id="128" name="Table 127"/>
          <p:cNvGraphicFramePr>
            <a:graphicFrameLocks noGrp="1"/>
          </p:cNvGraphicFramePr>
          <p:nvPr/>
        </p:nvGraphicFramePr>
        <p:xfrm>
          <a:off x="265350" y="1180000"/>
          <a:ext cx="4800000" cy="2160000"/>
        </p:xfrm>
        <a:graphic>
          <a:graphicData uri="http://schemas.openxmlformats.org/drawingml/2006/table">
            <a:tbl>
              <a:tblPr firstRow="1" bandRow="1">
                <a:tableStyleId>{5C22544A-7EE6-4342-B048-85BDC9FD1C3A}</a:tableStyleId>
              </a:tblPr>
              <a:tblGrid>
                <a:gridCol w="3744000"/>
                <a:gridCol w="1056000"/>
              </a:tblGrid>
              <a:tr h="360000">
                <a:tc>
                  <a:txBody>
                    <a:bodyPr/>
                    <a:lstStyle/>
                    <a:p>
                      <a:r>
                        <a:rPr sz="1200" b="1">
                          <a:solidFill>
                            <a:srgbClr val="FFFFFF"/>
                          </a:solidFill>
                          <a:latin typeface="Arial"/>
                        </a:rPr>
                        <a:t>Per dubbed minute (measured)</a:t>
                      </a:r>
                    </a:p>
                  </a:txBody>
                  <a:tcPr marL="70000" marR="70000" marT="30000" marB="30000">
                    <a:solidFill>
                      <a:srgbClr val="111214"/>
                    </a:solidFill>
                  </a:tcPr>
                </a:tc>
                <a:tc>
                  <a:txBody>
                    <a:bodyPr/>
                    <a:lstStyle/>
                    <a:p>
                      <a:r>
                        <a:rPr sz="1200" b="1">
                          <a:solidFill>
                            <a:srgbClr val="FFFFFF"/>
                          </a:solidFill>
                          <a:latin typeface="Arial"/>
                        </a:rPr>
                        <a:t>USD</a:t>
                      </a:r>
                    </a:p>
                  </a:txBody>
                  <a:tcPr marL="70000" marR="70000" marT="30000" marB="30000">
                    <a:solidFill>
                      <a:srgbClr val="111214"/>
                    </a:solidFill>
                  </a:tcPr>
                </a:tc>
              </a:tr>
              <a:tr h="360000">
                <a:tc>
                  <a:txBody>
                    <a:bodyPr/>
                    <a:lstStyle/>
                    <a:p>
                      <a:r>
                        <a:rPr sz="1200" b="0">
                          <a:solidFill>
                            <a:srgbClr val="111214"/>
                          </a:solidFill>
                          <a:latin typeface="Arial"/>
                        </a:rPr>
                        <a:t>Gemini 3.8 Flash text + listening checks</a:t>
                      </a:r>
                    </a:p>
                  </a:txBody>
                  <a:tcPr marL="70000" marR="70000" marT="30000" marB="30000">
                    <a:solidFill>
                      <a:srgbClr val="FFFFFF"/>
                    </a:solidFill>
                  </a:tcPr>
                </a:tc>
                <a:tc>
                  <a:txBody>
                    <a:bodyPr/>
                    <a:lstStyle/>
                    <a:p>
                      <a:r>
                        <a:rPr sz="1200" b="0">
                          <a:solidFill>
                            <a:srgbClr val="111214"/>
                          </a:solidFill>
                          <a:latin typeface="Arial"/>
                        </a:rPr>
                        <a:t>0.008</a:t>
                      </a:r>
                    </a:p>
                  </a:txBody>
                  <a:tcPr marL="70000" marR="70000" marT="30000" marB="30000">
                    <a:solidFill>
                      <a:srgbClr val="FFFFFF"/>
                    </a:solidFill>
                  </a:tcPr>
                </a:tc>
              </a:tr>
              <a:tr h="360000">
                <a:tc>
                  <a:txBody>
                    <a:bodyPr/>
                    <a:lstStyle/>
                    <a:p>
                      <a:r>
                        <a:rPr sz="1200" b="0">
                          <a:solidFill>
                            <a:srgbClr val="111214"/>
                          </a:solidFill>
                          <a:latin typeface="Arial"/>
                        </a:rPr>
                        <a:t>Gemini 3.8 Flash TTS (25 audio tokens/s, $9/1M)</a:t>
                      </a:r>
                    </a:p>
                  </a:txBody>
                  <a:tcPr marL="70000" marR="70000" marT="30000" marB="30000">
                    <a:solidFill>
                      <a:srgbClr val="F3F6FF"/>
                    </a:solidFill>
                  </a:tcPr>
                </a:tc>
                <a:tc>
                  <a:txBody>
                    <a:bodyPr/>
                    <a:lstStyle/>
                    <a:p>
                      <a:r>
                        <a:rPr sz="1200" b="0">
                          <a:solidFill>
                            <a:srgbClr val="111214"/>
                          </a:solidFill>
                          <a:latin typeface="Arial"/>
                        </a:rPr>
                        <a:t>0.014</a:t>
                      </a:r>
                    </a:p>
                  </a:txBody>
                  <a:tcPr marL="70000" marR="70000" marT="30000" marB="30000">
                    <a:solidFill>
                      <a:srgbClr val="F3F6FF"/>
                    </a:solidFill>
                  </a:tcPr>
                </a:tc>
              </a:tr>
              <a:tr h="360000">
                <a:tc>
                  <a:txBody>
                    <a:bodyPr/>
                    <a:lstStyle/>
                    <a:p>
                      <a:r>
                        <a:rPr sz="1200" b="0">
                          <a:solidFill>
                            <a:srgbClr val="111214"/>
                          </a:solidFill>
                          <a:latin typeface="Arial"/>
                        </a:rPr>
                        <a:t>Chirp 3 (per source min ÷ 3 languages)</a:t>
                      </a:r>
                    </a:p>
                  </a:txBody>
                  <a:tcPr marL="70000" marR="70000" marT="30000" marB="30000">
                    <a:solidFill>
                      <a:srgbClr val="FFFFFF"/>
                    </a:solidFill>
                  </a:tcPr>
                </a:tc>
                <a:tc>
                  <a:txBody>
                    <a:bodyPr/>
                    <a:lstStyle/>
                    <a:p>
                      <a:r>
                        <a:rPr sz="1200" b="0">
                          <a:solidFill>
                            <a:srgbClr val="111214"/>
                          </a:solidFill>
                          <a:latin typeface="Arial"/>
                        </a:rPr>
                        <a:t>0.005</a:t>
                      </a:r>
                    </a:p>
                  </a:txBody>
                  <a:tcPr marL="70000" marR="70000" marT="30000" marB="30000">
                    <a:solidFill>
                      <a:srgbClr val="FFFFFF"/>
                    </a:solidFill>
                  </a:tcPr>
                </a:tc>
              </a:tr>
              <a:tr h="360000">
                <a:tc>
                  <a:txBody>
                    <a:bodyPr/>
                    <a:lstStyle/>
                    <a:p>
                      <a:r>
                        <a:rPr sz="1200" b="0">
                          <a:solidFill>
                            <a:srgbClr val="111214"/>
                          </a:solidFill>
                          <a:latin typeface="Arial"/>
                        </a:rPr>
                        <a:t>Cloud Run Job (4 vCPU)</a:t>
                      </a:r>
                    </a:p>
                  </a:txBody>
                  <a:tcPr marL="70000" marR="70000" marT="30000" marB="30000">
                    <a:solidFill>
                      <a:srgbClr val="F3F6FF"/>
                    </a:solidFill>
                  </a:tcPr>
                </a:tc>
                <a:tc>
                  <a:txBody>
                    <a:bodyPr/>
                    <a:lstStyle/>
                    <a:p>
                      <a:r>
                        <a:rPr sz="1200" b="0">
                          <a:solidFill>
                            <a:srgbClr val="111214"/>
                          </a:solidFill>
                          <a:latin typeface="Arial"/>
                        </a:rPr>
                        <a:t>0.003</a:t>
                      </a:r>
                    </a:p>
                  </a:txBody>
                  <a:tcPr marL="70000" marR="70000" marT="30000" marB="30000">
                    <a:solidFill>
                      <a:srgbClr val="F3F6FF"/>
                    </a:solidFill>
                  </a:tcPr>
                </a:tc>
              </a:tr>
              <a:tr h="360000">
                <a:tc>
                  <a:txBody>
                    <a:bodyPr/>
                    <a:lstStyle/>
                    <a:p>
                      <a:r>
                        <a:rPr sz="1200" b="0">
                          <a:solidFill>
                            <a:srgbClr val="111214"/>
                          </a:solidFill>
                          <a:latin typeface="Arial"/>
                        </a:rPr>
                        <a:t>Total</a:t>
                      </a:r>
                    </a:p>
                  </a:txBody>
                  <a:tcPr marL="70000" marR="70000" marT="30000" marB="30000">
                    <a:solidFill>
                      <a:srgbClr val="FFFFFF"/>
                    </a:solidFill>
                  </a:tcPr>
                </a:tc>
                <a:tc>
                  <a:txBody>
                    <a:bodyPr/>
                    <a:lstStyle/>
                    <a:p>
                      <a:r>
                        <a:rPr sz="1200" b="0">
                          <a:solidFill>
                            <a:srgbClr val="111214"/>
                          </a:solidFill>
                          <a:latin typeface="Arial"/>
                        </a:rPr>
                        <a:t>≈ 0.03</a:t>
                      </a:r>
                    </a:p>
                  </a:txBody>
                  <a:tcPr marL="70000" marR="70000" marT="30000" marB="30000">
                    <a:solidFill>
                      <a:srgbClr val="FFFFFF"/>
                    </a:solidFill>
                  </a:tcPr>
                </a:tc>
              </a:tr>
            </a:tbl>
          </a:graphicData>
        </a:graphic>
      </p:graphicFrame>
      <p:graphicFrame>
        <p:nvGraphicFramePr>
          <p:cNvPr id="129" name="Table 128"/>
          <p:cNvGraphicFramePr>
            <a:graphicFrameLocks noGrp="1"/>
          </p:cNvGraphicFramePr>
          <p:nvPr/>
        </p:nvGraphicFramePr>
        <p:xfrm>
          <a:off x="5300000" y="1180000"/>
          <a:ext cx="3580000" cy="1800000"/>
        </p:xfrm>
        <a:graphic>
          <a:graphicData uri="http://schemas.openxmlformats.org/drawingml/2006/table">
            <a:tbl>
              <a:tblPr firstRow="1" bandRow="1">
                <a:tableStyleId>{5C22544A-7EE6-4342-B048-85BDC9FD1C3A}</a:tableStyleId>
              </a:tblPr>
              <a:tblGrid>
                <a:gridCol w="2148000"/>
                <a:gridCol w="1432000"/>
              </a:tblGrid>
              <a:tr h="360000">
                <a:tc>
                  <a:txBody>
                    <a:bodyPr/>
                    <a:lstStyle/>
                    <a:p>
                      <a:r>
                        <a:rPr sz="1200" b="1">
                          <a:solidFill>
                            <a:srgbClr val="FFFFFF"/>
                          </a:solidFill>
                          <a:latin typeface="Arial"/>
                        </a:rPr>
                        <a:t>Voice-clone dubbing</a:t>
                      </a:r>
                    </a:p>
                  </a:txBody>
                  <a:tcPr marL="70000" marR="70000" marT="30000" marB="30000">
                    <a:solidFill>
                      <a:srgbClr val="111214"/>
                    </a:solidFill>
                  </a:tcPr>
                </a:tc>
                <a:tc>
                  <a:txBody>
                    <a:bodyPr/>
                    <a:lstStyle/>
                    <a:p>
                      <a:r>
                        <a:rPr sz="1200" b="1">
                          <a:solidFill>
                            <a:srgbClr val="FFFFFF"/>
                          </a:solidFill>
                          <a:latin typeface="Arial"/>
                        </a:rPr>
                        <a:t>USD / min</a:t>
                      </a:r>
                    </a:p>
                  </a:txBody>
                  <a:tcPr marL="70000" marR="70000" marT="30000" marB="30000">
                    <a:solidFill>
                      <a:srgbClr val="111214"/>
                    </a:solidFill>
                  </a:tcPr>
                </a:tc>
              </a:tr>
              <a:tr h="360000">
                <a:tc>
                  <a:txBody>
                    <a:bodyPr/>
                    <a:lstStyle/>
                    <a:p>
                      <a:r>
                        <a:rPr sz="1200" b="0">
                          <a:solidFill>
                            <a:srgbClr val="111214"/>
                          </a:solidFill>
                          <a:latin typeface="Arial"/>
                        </a:rPr>
                        <a:t>ElevenLabs</a:t>
                      </a:r>
                    </a:p>
                  </a:txBody>
                  <a:tcPr marL="70000" marR="70000" marT="30000" marB="30000">
                    <a:solidFill>
                      <a:srgbClr val="FFFFFF"/>
                    </a:solidFill>
                  </a:tcPr>
                </a:tc>
                <a:tc>
                  <a:txBody>
                    <a:bodyPr/>
                    <a:lstStyle/>
                    <a:p>
                      <a:r>
                        <a:rPr sz="1200" b="0">
                          <a:solidFill>
                            <a:srgbClr val="111214"/>
                          </a:solidFill>
                          <a:latin typeface="Arial"/>
                        </a:rPr>
                        <a:t>0.33 – 2.20</a:t>
                      </a:r>
                    </a:p>
                  </a:txBody>
                  <a:tcPr marL="70000" marR="70000" marT="30000" marB="30000">
                    <a:solidFill>
                      <a:srgbClr val="FFFFFF"/>
                    </a:solidFill>
                  </a:tcPr>
                </a:tc>
              </a:tr>
              <a:tr h="360000">
                <a:tc>
                  <a:txBody>
                    <a:bodyPr/>
                    <a:lstStyle/>
                    <a:p>
                      <a:r>
                        <a:rPr sz="1200" b="0">
                          <a:solidFill>
                            <a:srgbClr val="111214"/>
                          </a:solidFill>
                          <a:latin typeface="Arial"/>
                        </a:rPr>
                        <a:t>Rask AI</a:t>
                      </a:r>
                    </a:p>
                  </a:txBody>
                  <a:tcPr marL="70000" marR="70000" marT="30000" marB="30000">
                    <a:solidFill>
                      <a:srgbClr val="F3F6FF"/>
                    </a:solidFill>
                  </a:tcPr>
                </a:tc>
                <a:tc>
                  <a:txBody>
                    <a:bodyPr/>
                    <a:lstStyle/>
                    <a:p>
                      <a:r>
                        <a:rPr sz="1200" b="0">
                          <a:solidFill>
                            <a:srgbClr val="111214"/>
                          </a:solidFill>
                          <a:latin typeface="Arial"/>
                        </a:rPr>
                        <a:t>≈ 1.56</a:t>
                      </a:r>
                    </a:p>
                  </a:txBody>
                  <a:tcPr marL="70000" marR="70000" marT="30000" marB="30000">
                    <a:solidFill>
                      <a:srgbClr val="F3F6FF"/>
                    </a:solidFill>
                  </a:tcPr>
                </a:tc>
              </a:tr>
              <a:tr h="360000">
                <a:tc>
                  <a:txBody>
                    <a:bodyPr/>
                    <a:lstStyle/>
                    <a:p>
                      <a:r>
                        <a:rPr sz="1200" b="0">
                          <a:solidFill>
                            <a:srgbClr val="111214"/>
                          </a:solidFill>
                          <a:latin typeface="Arial"/>
                        </a:rPr>
                        <a:t>Perso AI</a:t>
                      </a:r>
                    </a:p>
                  </a:txBody>
                  <a:tcPr marL="70000" marR="70000" marT="30000" marB="30000">
                    <a:solidFill>
                      <a:srgbClr val="FFFFFF"/>
                    </a:solidFill>
                  </a:tcPr>
                </a:tc>
                <a:tc>
                  <a:txBody>
                    <a:bodyPr/>
                    <a:lstStyle/>
                    <a:p>
                      <a:r>
                        <a:rPr sz="1200" b="0">
                          <a:solidFill>
                            <a:srgbClr val="111214"/>
                          </a:solidFill>
                          <a:latin typeface="Arial"/>
                        </a:rPr>
                        <a:t>≈ 0.55 – 0.73</a:t>
                      </a:r>
                    </a:p>
                  </a:txBody>
                  <a:tcPr marL="70000" marR="70000" marT="30000" marB="30000">
                    <a:solidFill>
                      <a:srgbClr val="FFFFFF"/>
                    </a:solidFill>
                  </a:tcPr>
                </a:tc>
              </a:tr>
              <a:tr h="360000">
                <a:tc>
                  <a:txBody>
                    <a:bodyPr/>
                    <a:lstStyle/>
                    <a:p>
                      <a:r>
                        <a:rPr sz="1200" b="0">
                          <a:solidFill>
                            <a:srgbClr val="111214"/>
                          </a:solidFill>
                          <a:latin typeface="Arial"/>
                        </a:rPr>
                        <a:t>VibeRick Dub</a:t>
                      </a:r>
                    </a:p>
                  </a:txBody>
                  <a:tcPr marL="70000" marR="70000" marT="30000" marB="30000">
                    <a:solidFill>
                      <a:srgbClr val="F3F6FF"/>
                    </a:solidFill>
                  </a:tcPr>
                </a:tc>
                <a:tc>
                  <a:txBody>
                    <a:bodyPr/>
                    <a:lstStyle/>
                    <a:p>
                      <a:r>
                        <a:rPr sz="1200" b="0">
                          <a:solidFill>
                            <a:srgbClr val="111214"/>
                          </a:solidFill>
                          <a:latin typeface="Arial"/>
                        </a:rPr>
                        <a:t>≈ 0.03</a:t>
                      </a:r>
                    </a:p>
                  </a:txBody>
                  <a:tcPr marL="70000" marR="70000" marT="30000" marB="30000">
                    <a:solidFill>
                      <a:srgbClr val="F3F6FF"/>
                    </a:solidFill>
                  </a:tcPr>
                </a:tc>
              </a:tr>
            </a:tbl>
          </a:graphicData>
        </a:graphic>
      </p:graphicFrame>
      <p:sp>
        <p:nvSpPr>
          <p:cNvPr id="130" name="TextBox 129"/>
          <p:cNvSpPr txBox="1"/>
          <p:nvPr/>
        </p:nvSpPr>
        <p:spPr>
          <a:xfrm>
            <a:off x="265350" y="3500000"/>
            <a:ext cx="8613300" cy="1200000"/>
          </a:xfrm>
          <a:prstGeom prst="rect">
            <a:avLst/>
          </a:prstGeom>
          <a:noFill/>
        </p:spPr>
        <p:txBody>
          <a:bodyPr wrap="square">
            <a:spAutoFit/>
          </a:bodyPr>
          <a:lstStyle/>
          <a:p>
            <a:pPr>
              <a:spcAft>
                <a:spcPts val="600"/>
              </a:spcAft>
            </a:pPr>
            <a:r>
              <a:rPr sz="1100" b="0">
                <a:solidFill>
                  <a:srgbClr val="5A5D66"/>
                </a:solidFill>
                <a:latin typeface="Arial"/>
              </a:rPr>
              <a:t>Competitor list prices checked 2026-10-10. Fixed cost: Cloud Run scales to zero; Firestore and Hosting stay within the free tier for the demo.</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shot-studio-ja.png"/>
          <p:cNvPicPr>
            <a:picLocks noChangeAspect="1"/>
          </p:cNvPicPr>
          <p:nvPr/>
        </p:nvPicPr>
        <p:blipFill>
          <a:blip r:embed="rId5"/>
          <a:stretch>
            <a:fillRect/>
          </a:stretch>
        </p:blipFill>
        <p:spPr>
          <a:xfrm>
            <a:off x="265350" y="1201875"/>
            <a:ext cx="4250000" cy="2656250"/>
          </a:xfrm>
          <a:prstGeom prst="rect">
            <a:avLst/>
          </a:prstGeom>
        </p:spPr>
      </p:pic>
      <p:pic>
        <p:nvPicPr>
          <p:cNvPr id="137" name="Picture 136" descr="shot-log.png"/>
          <p:cNvPicPr>
            <a:picLocks noChangeAspect="1"/>
          </p:cNvPicPr>
          <p:nvPr/>
        </p:nvPicPr>
        <p:blipFill>
          <a:blip r:embed="rId6"/>
          <a:stretch>
            <a:fillRect/>
          </a:stretch>
        </p:blipFill>
        <p:spPr>
          <a:xfrm>
            <a:off x="4628650" y="1201875"/>
            <a:ext cx="4250000" cy="2656250"/>
          </a:xfrm>
          <a:prstGeom prst="rect">
            <a:avLst/>
          </a:prstGeom>
        </p:spPr>
      </p:pic>
      <p:sp>
        <p:nvSpPr>
          <p:cNvPr id="138" name="TextBox 137"/>
          <p:cNvSpPr txBox="1"/>
          <p:nvPr/>
        </p:nvSpPr>
        <p:spPr>
          <a:xfrm>
            <a:off x="265350" y="3950000"/>
            <a:ext cx="8613300" cy="900000"/>
          </a:xfrm>
          <a:prstGeom prst="rect">
            <a:avLst/>
          </a:prstGeom>
          <a:noFill/>
        </p:spPr>
        <p:txBody>
          <a:bodyPr wrap="square">
            <a:spAutoFit/>
          </a:bodyPr>
          <a:lstStyle/>
          <a:p>
            <a:pPr>
              <a:spcAft>
                <a:spcPts val="600"/>
              </a:spcAft>
            </a:pPr>
            <a:r>
              <a:rPr sz="1200" b="0">
                <a:solidFill>
                  <a:srgbClr val="5A5D66"/>
                </a:solidFill>
                <a:latin typeface="Arial"/>
              </a:rPr>
              <a:t>Left: Japanese dub with subtitles and the synced transcript. Right: the agent log — every shorten, re-speak, re-translate and Gemini verdict, streamed live from Firestore.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Prototype performance report / benchmarking</a:t>
            </a:r>
            <a:endParaRPr sz="1600">
              <a:latin typeface="Google Sans Flex Medium"/>
              <a:ea typeface="Google Sans Flex Medium"/>
              <a:cs typeface="Google Sans Flex Medium"/>
              <a:sym typeface="Google Sans Flex Medium"/>
            </a:endParaRPr>
          </a:p>
        </p:txBody>
      </p:sp>
      <p:graphicFrame>
        <p:nvGraphicFramePr>
          <p:cNvPr id="144" name="Table 143"/>
          <p:cNvGraphicFramePr>
            <a:graphicFrameLocks noGrp="1"/>
          </p:cNvGraphicFramePr>
          <p:nvPr/>
        </p:nvGraphicFramePr>
        <p:xfrm>
          <a:off x="265350" y="1180000"/>
          <a:ext cx="8613300" cy="2970000"/>
        </p:xfrm>
        <a:graphic>
          <a:graphicData uri="http://schemas.openxmlformats.org/drawingml/2006/table">
            <a:tbl>
              <a:tblPr firstRow="1" bandRow="1">
                <a:tableStyleId>{5C22544A-7EE6-4342-B048-85BDC9FD1C3A}</a:tableStyleId>
              </a:tblPr>
              <a:tblGrid>
                <a:gridCol w="5340246"/>
                <a:gridCol w="3273054"/>
              </a:tblGrid>
              <a:tr h="330000">
                <a:tc>
                  <a:txBody>
                    <a:bodyPr/>
                    <a:lstStyle/>
                    <a:p>
                      <a:r>
                        <a:rPr sz="1100" b="1">
                          <a:solidFill>
                            <a:srgbClr val="FFFFFF"/>
                          </a:solidFill>
                          <a:latin typeface="Arial"/>
                        </a:rPr>
                        <a:t>Measure</a:t>
                      </a:r>
                    </a:p>
                  </a:txBody>
                  <a:tcPr marL="70000" marR="70000" marT="30000" marB="30000">
                    <a:solidFill>
                      <a:srgbClr val="111214"/>
                    </a:solidFill>
                  </a:tcPr>
                </a:tc>
                <a:tc>
                  <a:txBody>
                    <a:bodyPr/>
                    <a:lstStyle/>
                    <a:p>
                      <a:r>
                        <a:rPr sz="1100" b="1">
                          <a:solidFill>
                            <a:srgbClr val="FFFFFF"/>
                          </a:solidFill>
                          <a:latin typeface="Arial"/>
                        </a:rPr>
                        <a:t>Result</a:t>
                      </a:r>
                    </a:p>
                  </a:txBody>
                  <a:tcPr marL="70000" marR="70000" marT="30000" marB="30000">
                    <a:solidFill>
                      <a:srgbClr val="111214"/>
                    </a:solidFill>
                  </a:tcPr>
                </a:tc>
              </a:tr>
              <a:tr h="330000">
                <a:tc>
                  <a:txBody>
                    <a:bodyPr/>
                    <a:lstStyle/>
                    <a:p>
                      <a:r>
                        <a:rPr sz="1100" b="0">
                          <a:solidFill>
                            <a:srgbClr val="111214"/>
                          </a:solidFill>
                          <a:latin typeface="Arial"/>
                        </a:rPr>
                        <a:t>3-min Korean video → en, ja, zh: lines verified by Gemini listening</a:t>
                      </a:r>
                    </a:p>
                  </a:txBody>
                  <a:tcPr marL="70000" marR="70000" marT="30000" marB="30000">
                    <a:solidFill>
                      <a:srgbClr val="FFFFFF"/>
                    </a:solidFill>
                  </a:tcPr>
                </a:tc>
                <a:tc>
                  <a:txBody>
                    <a:bodyPr/>
                    <a:lstStyle/>
                    <a:p>
                      <a:r>
                        <a:rPr sz="1100" b="0">
                          <a:solidFill>
                            <a:srgbClr val="111214"/>
                          </a:solidFill>
                          <a:latin typeface="Arial"/>
                        </a:rPr>
                        <a:t>69 / 69</a:t>
                      </a:r>
                    </a:p>
                  </a:txBody>
                  <a:tcPr marL="70000" marR="70000" marT="30000" marB="30000">
                    <a:solidFill>
                      <a:srgbClr val="FFFFFF"/>
                    </a:solidFill>
                  </a:tcPr>
                </a:tc>
              </a:tr>
              <a:tr h="330000">
                <a:tc>
                  <a:txBody>
                    <a:bodyPr/>
                    <a:lstStyle/>
                    <a:p>
                      <a:r>
                        <a:rPr sz="1100" b="0">
                          <a:solidFill>
                            <a:srgbClr val="111214"/>
                          </a:solidFill>
                          <a:latin typeface="Arial"/>
                        </a:rPr>
                        <a:t>Timing drift (p95, worst language)</a:t>
                      </a:r>
                    </a:p>
                  </a:txBody>
                  <a:tcPr marL="70000" marR="70000" marT="30000" marB="30000">
                    <a:solidFill>
                      <a:srgbClr val="F3F6FF"/>
                    </a:solidFill>
                  </a:tcPr>
                </a:tc>
                <a:tc>
                  <a:txBody>
                    <a:bodyPr/>
                    <a:lstStyle/>
                    <a:p>
                      <a:r>
                        <a:rPr sz="1100" b="0">
                          <a:solidFill>
                            <a:srgbClr val="111214"/>
                          </a:solidFill>
                          <a:latin typeface="Arial"/>
                        </a:rPr>
                        <a:t>0.16 s</a:t>
                      </a:r>
                    </a:p>
                  </a:txBody>
                  <a:tcPr marL="70000" marR="70000" marT="30000" marB="30000">
                    <a:solidFill>
                      <a:srgbClr val="F3F6FF"/>
                    </a:solidFill>
                  </a:tcPr>
                </a:tc>
              </a:tr>
              <a:tr h="330000">
                <a:tc>
                  <a:txBody>
                    <a:bodyPr/>
                    <a:lstStyle/>
                    <a:p>
                      <a:r>
                        <a:rPr sz="1100" b="0">
                          <a:solidFill>
                            <a:srgbClr val="111214"/>
                          </a:solidFill>
                          <a:latin typeface="Arial"/>
                        </a:rPr>
                        <a:t>Wall-clock, 3 languages</a:t>
                      </a:r>
                    </a:p>
                  </a:txBody>
                  <a:tcPr marL="70000" marR="70000" marT="30000" marB="30000">
                    <a:solidFill>
                      <a:srgbClr val="FFFFFF"/>
                    </a:solidFill>
                  </a:tcPr>
                </a:tc>
                <a:tc>
                  <a:txBody>
                    <a:bodyPr/>
                    <a:lstStyle/>
                    <a:p>
                      <a:r>
                        <a:rPr sz="1100" b="0">
                          <a:solidFill>
                            <a:srgbClr val="111214"/>
                          </a:solidFill>
                          <a:latin typeface="Arial"/>
                        </a:rPr>
                        <a:t>2:52</a:t>
                      </a:r>
                    </a:p>
                  </a:txBody>
                  <a:tcPr marL="70000" marR="70000" marT="30000" marB="30000">
                    <a:solidFill>
                      <a:srgbClr val="FFFFFF"/>
                    </a:solidFill>
                  </a:tcPr>
                </a:tc>
              </a:tr>
              <a:tr h="330000">
                <a:tc>
                  <a:txBody>
                    <a:bodyPr/>
                    <a:lstStyle/>
                    <a:p>
                      <a:r>
                        <a:rPr sz="1100" b="0">
                          <a:solidFill>
                            <a:srgbClr val="111214"/>
                          </a:solidFill>
                          <a:latin typeface="Arial"/>
                        </a:rPr>
                        <a:t>Full 15:05 video → 3 languages: verified · wall-clock</a:t>
                      </a:r>
                    </a:p>
                  </a:txBody>
                  <a:tcPr marL="70000" marR="70000" marT="30000" marB="30000">
                    <a:solidFill>
                      <a:srgbClr val="F3F6FF"/>
                    </a:solidFill>
                  </a:tcPr>
                </a:tc>
                <a:tc>
                  <a:txBody>
                    <a:bodyPr/>
                    <a:lstStyle/>
                    <a:p>
                      <a:r>
                        <a:rPr sz="1100" b="0">
                          <a:solidFill>
                            <a:srgbClr val="111214"/>
                          </a:solidFill>
                          <a:latin typeface="Arial"/>
                        </a:rPr>
                        <a:t>366 / 369 · 10:58</a:t>
                      </a:r>
                    </a:p>
                  </a:txBody>
                  <a:tcPr marL="70000" marR="70000" marT="30000" marB="30000">
                    <a:solidFill>
                      <a:srgbClr val="F3F6FF"/>
                    </a:solidFill>
                  </a:tcPr>
                </a:tc>
              </a:tr>
              <a:tr h="330000">
                <a:tc>
                  <a:txBody>
                    <a:bodyPr/>
                    <a:lstStyle/>
                    <a:p>
                      <a:r>
                        <a:rPr sz="1100" b="0">
                          <a:solidFill>
                            <a:srgbClr val="111214"/>
                          </a:solidFill>
                          <a:latin typeface="Arial"/>
                        </a:rPr>
                        <a:t>2-speaker English podcast → Korean: lines verified; voices cast</a:t>
                      </a:r>
                    </a:p>
                  </a:txBody>
                  <a:tcPr marL="70000" marR="70000" marT="30000" marB="30000">
                    <a:solidFill>
                      <a:srgbClr val="FFFFFF"/>
                    </a:solidFill>
                  </a:tcPr>
                </a:tc>
                <a:tc>
                  <a:txBody>
                    <a:bodyPr/>
                    <a:lstStyle/>
                    <a:p>
                      <a:r>
                        <a:rPr sz="1100" b="0">
                          <a:solidFill>
                            <a:srgbClr val="111214"/>
                          </a:solidFill>
                          <a:latin typeface="Arial"/>
                        </a:rPr>
                        <a:t>28 / 28 · male + female presets</a:t>
                      </a:r>
                    </a:p>
                  </a:txBody>
                  <a:tcPr marL="70000" marR="70000" marT="30000" marB="30000">
                    <a:solidFill>
                      <a:srgbClr val="FFFFFF"/>
                    </a:solidFill>
                  </a:tcPr>
                </a:tc>
              </a:tr>
              <a:tr h="330000">
                <a:tc>
                  <a:txBody>
                    <a:bodyPr/>
                    <a:lstStyle/>
                    <a:p>
                      <a:r>
                        <a:rPr sz="1100" b="0">
                          <a:solidFill>
                            <a:srgbClr val="111214"/>
                          </a:solidFill>
                          <a:latin typeface="Arial"/>
                        </a:rPr>
                        <a:t>Transcript CER vs creator's edited captions (3 runs)</a:t>
                      </a:r>
                    </a:p>
                  </a:txBody>
                  <a:tcPr marL="70000" marR="70000" marT="30000" marB="30000">
                    <a:solidFill>
                      <a:srgbClr val="F3F6FF"/>
                    </a:solidFill>
                  </a:tcPr>
                </a:tc>
                <a:tc>
                  <a:txBody>
                    <a:bodyPr/>
                    <a:lstStyle/>
                    <a:p>
                      <a:r>
                        <a:rPr sz="1100" b="0">
                          <a:solidFill>
                            <a:srgbClr val="111214"/>
                          </a:solidFill>
                          <a:latin typeface="Arial"/>
                        </a:rPr>
                        <a:t>Chirp 3 + Gemini 7.6–7.9% · Chirp 8.6% · Gemini 10.6–11.8%</a:t>
                      </a:r>
                    </a:p>
                  </a:txBody>
                  <a:tcPr marL="70000" marR="70000" marT="30000" marB="30000">
                    <a:solidFill>
                      <a:srgbClr val="F3F6FF"/>
                    </a:solidFill>
                  </a:tcPr>
                </a:tc>
              </a:tr>
              <a:tr h="330000">
                <a:tc>
                  <a:txBody>
                    <a:bodyPr/>
                    <a:lstStyle/>
                    <a:p>
                      <a:r>
                        <a:rPr sz="1100" b="0">
                          <a:solidFill>
                            <a:srgbClr val="111214"/>
                          </a:solidFill>
                          <a:latin typeface="Arial"/>
                        </a:rPr>
                        <a:t>Gemini-only timestamps drift (why Chirp is the clock)</a:t>
                      </a:r>
                    </a:p>
                  </a:txBody>
                  <a:tcPr marL="70000" marR="70000" marT="30000" marB="30000">
                    <a:solidFill>
                      <a:srgbClr val="FFFFFF"/>
                    </a:solidFill>
                  </a:tcPr>
                </a:tc>
                <a:tc>
                  <a:txBody>
                    <a:bodyPr/>
                    <a:lstStyle/>
                    <a:p>
                      <a:r>
                        <a:rPr sz="1100" b="0">
                          <a:solidFill>
                            <a:srgbClr val="111214"/>
                          </a:solidFill>
                          <a:latin typeface="Arial"/>
                        </a:rPr>
                        <a:t>up to 42 s</a:t>
                      </a:r>
                    </a:p>
                  </a:txBody>
                  <a:tcPr marL="70000" marR="70000" marT="30000" marB="30000">
                    <a:solidFill>
                      <a:srgbClr val="FFFFFF"/>
                    </a:solidFill>
                  </a:tcPr>
                </a:tc>
              </a:tr>
              <a:tr h="330000">
                <a:tc>
                  <a:txBody>
                    <a:bodyPr/>
                    <a:lstStyle/>
                    <a:p>
                      <a:r>
                        <a:rPr sz="1100" b="0">
                          <a:solidFill>
                            <a:srgbClr val="111214"/>
                          </a:solidFill>
                          <a:latin typeface="Arial"/>
                        </a:rPr>
                        <a:t>Speaker similarity to the creator (ECAPA cosine)</a:t>
                      </a:r>
                    </a:p>
                  </a:txBody>
                  <a:tcPr marL="70000" marR="70000" marT="30000" marB="30000">
                    <a:solidFill>
                      <a:srgbClr val="F3F6FF"/>
                    </a:solidFill>
                  </a:tcPr>
                </a:tc>
                <a:tc>
                  <a:txBody>
                    <a:bodyPr/>
                    <a:lstStyle/>
                    <a:p>
                      <a:r>
                        <a:rPr sz="1100" b="0">
                          <a:solidFill>
                            <a:srgbClr val="111214"/>
                          </a:solidFill>
                          <a:latin typeface="Arial"/>
                        </a:rPr>
                        <a:t>English clone 0.68 · creator 0.90 · others 0.00–0.09</a:t>
                      </a:r>
                    </a:p>
                  </a:txBody>
                  <a:tcPr marL="70000" marR="70000" marT="30000" marB="30000">
                    <a:solidFill>
                      <a:srgbClr val="F3F6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Additional details / future development</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265350" y="1180000"/>
            <a:ext cx="8613300" cy="3800000"/>
          </a:xfrm>
          <a:prstGeom prst="rect">
            <a:avLst/>
          </a:prstGeom>
          <a:noFill/>
        </p:spPr>
        <p:txBody>
          <a:bodyPr wrap="square">
            <a:spAutoFit/>
          </a:bodyPr>
          <a:lstStyle/>
          <a:p>
            <a:pPr>
              <a:spcAft>
                <a:spcPts val="1000"/>
              </a:spcAft>
            </a:pPr>
            <a:r>
              <a:rPr sz="1400" b="0">
                <a:solidFill>
                  <a:srgbClr val="111214"/>
                </a:solidFill>
                <a:latin typeface="Arial"/>
              </a:rPr>
              <a:t>•  More languages: the same path covers every language Gemini TTS speaks; subtitles for 100+.</a:t>
            </a:r>
          </a:p>
          <a:p>
            <a:pPr>
              <a:spcAft>
                <a:spcPts val="1000"/>
              </a:spcAft>
            </a:pPr>
            <a:r>
              <a:rPr sz="1400" b="0">
                <a:solidFill>
                  <a:srgbClr val="111214"/>
                </a:solidFill>
                <a:latin typeface="Arial"/>
              </a:rPr>
              <a:t>•  One-click publish to YouTube multi-language audio via the YouTube Data API.</a:t>
            </a:r>
          </a:p>
          <a:p>
            <a:pPr>
              <a:spcAft>
                <a:spcPts val="1000"/>
              </a:spcAft>
            </a:pPr>
            <a:r>
              <a:rPr sz="1400" b="0">
                <a:solidFill>
                  <a:srgbClr val="111214"/>
                </a:solidFill>
                <a:latin typeface="Arial"/>
              </a:rPr>
              <a:t>•  Guest consent in the browser: guests record the consent line and get their own cloned voice.</a:t>
            </a:r>
          </a:p>
          <a:p>
            <a:pPr>
              <a:spcAft>
                <a:spcPts val="1000"/>
              </a:spcAft>
            </a:pPr>
            <a:r>
              <a:rPr sz="1400" b="0">
                <a:solidFill>
                  <a:srgbClr val="111214"/>
                </a:solidFill>
                <a:latin typeface="Arial"/>
              </a:rPr>
              <a:t>•  Line editor: fix one line, re-speak only that line; glossary per channel.</a:t>
            </a:r>
          </a:p>
          <a:p>
            <a:pPr>
              <a:spcAft>
                <a:spcPts val="1000"/>
              </a:spcAft>
            </a:pPr>
            <a:r>
              <a:rPr sz="1400" b="0">
                <a:solidFill>
                  <a:srgbClr val="111214"/>
                </a:solidFill>
                <a:latin typeface="Arial"/>
              </a:rPr>
              <a:t>•  Emotion and emphasis transfer from the original delivery; lip-sync for on-camera close-ups.</a:t>
            </a:r>
          </a:p>
          <a:p>
            <a:pPr>
              <a:spcAft>
                <a:spcPts val="1000"/>
              </a:spcAft>
            </a:pPr>
            <a:r>
              <a:rPr sz="1400" b="0">
                <a:solidFill>
                  <a:srgbClr val="111214"/>
                </a:solidFill>
                <a:latin typeface="Arial"/>
              </a:rPr>
              <a:t>•  Shorts and podcasts: the same agent for vertical video and audio-only feeds.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b="1">
                <a:solidFill>
                  <a:srgbClr val="111214"/>
                </a:solidFill>
                <a:latin typeface="Arial"/>
                <a:ea typeface="Google Sans Flex Medium"/>
                <a:cs typeface="Google Sans Flex Medium"/>
                <a:sym typeface="Google Sans Flex Medium"/>
              </a:rPr>
              <a:t>Links</a:t>
            </a:r>
            <a:endParaRPr sz="1600">
              <a:latin typeface="Google Sans Flex Medium"/>
              <a:ea typeface="Google Sans Flex Medium"/>
              <a:cs typeface="Google Sans Flex Medium"/>
              <a:sym typeface="Google Sans Flex Medium"/>
            </a:endParaRPr>
          </a:p>
        </p:txBody>
      </p:sp>
      <p:sp>
        <p:nvSpPr>
          <p:cNvPr id="160" name="TextBox 159"/>
          <p:cNvSpPr txBox="1"/>
          <p:nvPr/>
        </p:nvSpPr>
        <p:spPr>
          <a:xfrm>
            <a:off x="265350" y="1180000"/>
            <a:ext cx="8613300" cy="2400000"/>
          </a:xfrm>
          <a:prstGeom prst="rect">
            <a:avLst/>
          </a:prstGeom>
          <a:noFill/>
        </p:spPr>
        <p:txBody>
          <a:bodyPr wrap="square">
            <a:spAutoFit/>
          </a:bodyPr>
          <a:lstStyle/>
          <a:p>
            <a:pPr>
              <a:spcAft>
                <a:spcPts val="600"/>
              </a:spcAft>
            </a:pPr>
            <a:r>
              <a:rPr sz="1500" b="1">
                <a:solidFill>
                  <a:srgbClr val="111214"/>
                </a:solidFill>
                <a:latin typeface="Arial"/>
              </a:rPr>
              <a:t>GitHub public repository</a:t>
            </a:r>
          </a:p>
          <a:p>
            <a:pPr>
              <a:spcAft>
                <a:spcPts val="600"/>
              </a:spcAft>
            </a:pPr>
            <a:r>
              <a:rPr sz="1500" b="0">
                <a:solidFill>
                  <a:srgbClr val="2F5BFF"/>
                </a:solidFill>
                <a:latin typeface="Arial"/>
              </a:rPr>
              <a:t>https://github.com/jays0606/viberick-dub</a:t>
            </a:r>
          </a:p>
          <a:p>
            <a:pPr>
              <a:spcAft>
                <a:spcPts val="600"/>
              </a:spcAft>
            </a:pPr>
            <a:r>
              <a:rPr sz="1500" b="1">
                <a:solidFill>
                  <a:srgbClr val="111214"/>
                </a:solidFill>
                <a:latin typeface="Arial"/>
              </a:rPr>
              <a:t>Demo video (under 3 minutes)</a:t>
            </a:r>
          </a:p>
          <a:p>
            <a:pPr>
              <a:spcAft>
                <a:spcPts val="600"/>
              </a:spcAft>
            </a:pPr>
            <a:r>
              <a:rPr sz="1500" b="0">
                <a:solidFill>
                  <a:srgbClr val="2F5BFF"/>
                </a:solidFill>
                <a:latin typeface="Arial"/>
              </a:rPr>
              <a:t>(demo video link — added at submission)</a:t>
            </a:r>
          </a:p>
          <a:p>
            <a:pPr>
              <a:spcAft>
                <a:spcPts val="600"/>
              </a:spcAft>
            </a:pPr>
            <a:r>
              <a:rPr sz="1500" b="1">
                <a:solidFill>
                  <a:srgbClr val="111214"/>
                </a:solidFill>
                <a:latin typeface="Arial"/>
              </a:rPr>
              <a:t>Final product</a:t>
            </a:r>
          </a:p>
          <a:p>
            <a:pPr>
              <a:spcAft>
                <a:spcPts val="600"/>
              </a:spcAft>
            </a:pPr>
            <a:r>
              <a:rPr sz="1500" b="0">
                <a:solidFill>
                  <a:srgbClr val="2F5BFF"/>
                </a:solidFill>
                <a:latin typeface="Arial"/>
              </a:rPr>
              <a:t>https://viberick-dub.web.app</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265350" y="663825"/>
            <a:ext cx="8613300" cy="480000"/>
          </a:xfrm>
          <a:prstGeom prst="rect">
            <a:avLst/>
          </a:prstGeom>
          <a:noFill/>
        </p:spPr>
        <p:txBody>
          <a:bodyPr wrap="square">
            <a:spAutoFit/>
          </a:bodyPr>
          <a:lstStyle/>
          <a:p>
            <a:pPr>
              <a:spcAft>
                <a:spcPts val="600"/>
              </a:spcAft>
            </a:pPr>
            <a:r>
              <a:rPr sz="2000" b="1">
                <a:solidFill>
                  <a:srgbClr val="111214"/>
                </a:solidFill>
                <a:latin typeface="Arial"/>
              </a:rPr>
              <a:t>Consent and safety by design</a:t>
            </a:r>
          </a:p>
        </p:txBody>
      </p:sp>
      <p:sp>
        <p:nvSpPr>
          <p:cNvPr id="168" name="TextBox 167"/>
          <p:cNvSpPr txBox="1"/>
          <p:nvPr/>
        </p:nvSpPr>
        <p:spPr>
          <a:xfrm>
            <a:off x="265350" y="1180000"/>
            <a:ext cx="5000000" cy="3800000"/>
          </a:xfrm>
          <a:prstGeom prst="rect">
            <a:avLst/>
          </a:prstGeom>
          <a:noFill/>
        </p:spPr>
        <p:txBody>
          <a:bodyPr wrap="square">
            <a:spAutoFit/>
          </a:bodyPr>
          <a:lstStyle/>
          <a:p>
            <a:pPr>
              <a:spcAft>
                <a:spcPts val="900"/>
              </a:spcAft>
            </a:pPr>
            <a:r>
              <a:rPr sz="1400" b="1">
                <a:solidFill>
                  <a:srgbClr val="111214"/>
                </a:solidFill>
                <a:latin typeface="Arial"/>
              </a:rPr>
              <a:t>Two locks before a voice is cloned</a:t>
            </a:r>
          </a:p>
          <a:p>
            <a:pPr>
              <a:spcAft>
                <a:spcPts val="900"/>
              </a:spcAft>
            </a:pPr>
            <a:r>
              <a:rPr sz="1300" b="0">
                <a:solidFill>
                  <a:srgbClr val="111214"/>
                </a:solidFill>
                <a:latin typeface="Arial"/>
              </a:rPr>
              <a:t>1. Channel lock: the channel owner recorded the consent statement.</a:t>
            </a:r>
          </a:p>
          <a:p>
            <a:pPr>
              <a:spcAft>
                <a:spcPts val="900"/>
              </a:spcAft>
            </a:pPr>
            <a:r>
              <a:rPr sz="1300" b="0">
                <a:solidFill>
                  <a:srgbClr val="111214"/>
                </a:solidFill>
                <a:latin typeface="Arial"/>
              </a:rPr>
              <a:t>2. Speaker lock: the diarized speaker's voice verifies against that recording (ECAPA cosine ≥ 0.45).</a:t>
            </a:r>
          </a:p>
          <a:p>
            <a:pPr>
              <a:spcAft>
                <a:spcPts val="900"/>
              </a:spcAft>
            </a:pPr>
            <a:r>
              <a:rPr sz="1300" b="0">
                <a:solidFill>
                  <a:srgbClr val="111214"/>
                </a:solidFill>
                <a:latin typeface="Arial"/>
              </a:rPr>
              <a:t>Everyone else gets a Gemini preset voice chosen by Gemini after listening to them.</a:t>
            </a:r>
          </a:p>
          <a:p>
            <a:pPr>
              <a:spcAft>
                <a:spcPts val="900"/>
              </a:spcAft>
            </a:pPr>
            <a:r>
              <a:rPr sz="1300" b="0">
                <a:solidFill>
                  <a:srgbClr val="5A5D66"/>
                </a:solidFill>
                <a:latin typeface="Arial"/>
              </a:rPr>
              <a:t>Only a 192-number voice embedding is stored, never the audio. Every clip carries SynthID.</a:t>
            </a:r>
          </a:p>
        </p:txBody>
      </p:sp>
      <p:graphicFrame>
        <p:nvGraphicFramePr>
          <p:cNvPr id="169" name="Table 168"/>
          <p:cNvGraphicFramePr>
            <a:graphicFrameLocks noGrp="1"/>
          </p:cNvGraphicFramePr>
          <p:nvPr/>
        </p:nvGraphicFramePr>
        <p:xfrm>
          <a:off x="5500000" y="1180000"/>
          <a:ext cx="3380000" cy="2160000"/>
        </p:xfrm>
        <a:graphic>
          <a:graphicData uri="http://schemas.openxmlformats.org/drawingml/2006/table">
            <a:tbl>
              <a:tblPr firstRow="1" bandRow="1">
                <a:tableStyleId>{5C22544A-7EE6-4342-B048-85BDC9FD1C3A}</a:tableStyleId>
              </a:tblPr>
              <a:tblGrid>
                <a:gridCol w="2298400"/>
                <a:gridCol w="1081600"/>
              </a:tblGrid>
              <a:tr h="360000">
                <a:tc>
                  <a:txBody>
                    <a:bodyPr/>
                    <a:lstStyle/>
                    <a:p>
                      <a:r>
                        <a:rPr sz="1200" b="1">
                          <a:solidFill>
                            <a:srgbClr val="FFFFFF"/>
                          </a:solidFill>
                          <a:latin typeface="Arial"/>
                        </a:rPr>
                        <a:t>Speaker vs consent recording</a:t>
                      </a:r>
                    </a:p>
                  </a:txBody>
                  <a:tcPr marL="70000" marR="70000" marT="30000" marB="30000">
                    <a:solidFill>
                      <a:srgbClr val="111214"/>
                    </a:solidFill>
                  </a:tcPr>
                </a:tc>
                <a:tc>
                  <a:txBody>
                    <a:bodyPr/>
                    <a:lstStyle/>
                    <a:p>
                      <a:r>
                        <a:rPr sz="1200" b="1">
                          <a:solidFill>
                            <a:srgbClr val="FFFFFF"/>
                          </a:solidFill>
                          <a:latin typeface="Arial"/>
                        </a:rPr>
                        <a:t>Cosine</a:t>
                      </a:r>
                    </a:p>
                  </a:txBody>
                  <a:tcPr marL="70000" marR="70000" marT="30000" marB="30000">
                    <a:solidFill>
                      <a:srgbClr val="111214"/>
                    </a:solidFill>
                  </a:tcPr>
                </a:tc>
              </a:tr>
              <a:tr h="360000">
                <a:tc>
                  <a:txBody>
                    <a:bodyPr/>
                    <a:lstStyle/>
                    <a:p>
                      <a:r>
                        <a:rPr sz="1200" b="0">
                          <a:solidFill>
                            <a:srgbClr val="111214"/>
                          </a:solidFill>
                          <a:latin typeface="Arial"/>
                        </a:rPr>
                        <a:t>Creator (own video)</a:t>
                      </a:r>
                    </a:p>
                  </a:txBody>
                  <a:tcPr marL="70000" marR="70000" marT="30000" marB="30000">
                    <a:solidFill>
                      <a:srgbClr val="FFFFFF"/>
                    </a:solidFill>
                  </a:tcPr>
                </a:tc>
                <a:tc>
                  <a:txBody>
                    <a:bodyPr/>
                    <a:lstStyle/>
                    <a:p>
                      <a:r>
                        <a:rPr sz="1200" b="0">
                          <a:solidFill>
                            <a:srgbClr val="111214"/>
                          </a:solidFill>
                          <a:latin typeface="Arial"/>
                        </a:rPr>
                        <a:t>0.90</a:t>
                      </a:r>
                    </a:p>
                  </a:txBody>
                  <a:tcPr marL="70000" marR="70000" marT="30000" marB="30000">
                    <a:solidFill>
                      <a:srgbClr val="FFFFFF"/>
                    </a:solidFill>
                  </a:tcPr>
                </a:tc>
              </a:tr>
              <a:tr h="360000">
                <a:tc>
                  <a:txBody>
                    <a:bodyPr/>
                    <a:lstStyle/>
                    <a:p>
                      <a:r>
                        <a:rPr sz="1200" b="0">
                          <a:solidFill>
                            <a:srgbClr val="111214"/>
                          </a:solidFill>
                          <a:latin typeface="Arial"/>
                        </a:rPr>
                        <a:t>Creator's consent take</a:t>
                      </a:r>
                    </a:p>
                  </a:txBody>
                  <a:tcPr marL="70000" marR="70000" marT="30000" marB="30000">
                    <a:solidFill>
                      <a:srgbClr val="F3F6FF"/>
                    </a:solidFill>
                  </a:tcPr>
                </a:tc>
                <a:tc>
                  <a:txBody>
                    <a:bodyPr/>
                    <a:lstStyle/>
                    <a:p>
                      <a:r>
                        <a:rPr sz="1200" b="0">
                          <a:solidFill>
                            <a:srgbClr val="111214"/>
                          </a:solidFill>
                          <a:latin typeface="Arial"/>
                        </a:rPr>
                        <a:t>0.88</a:t>
                      </a:r>
                    </a:p>
                  </a:txBody>
                  <a:tcPr marL="70000" marR="70000" marT="30000" marB="30000">
                    <a:solidFill>
                      <a:srgbClr val="F3F6FF"/>
                    </a:solidFill>
                  </a:tcPr>
                </a:tc>
              </a:tr>
              <a:tr h="360000">
                <a:tc>
                  <a:txBody>
                    <a:bodyPr/>
                    <a:lstStyle/>
                    <a:p>
                      <a:r>
                        <a:rPr sz="1200" b="0">
                          <a:solidFill>
                            <a:srgbClr val="111214"/>
                          </a:solidFill>
                          <a:latin typeface="Arial"/>
                        </a:rPr>
                        <a:t>Podcast speaker A</a:t>
                      </a:r>
                    </a:p>
                  </a:txBody>
                  <a:tcPr marL="70000" marR="70000" marT="30000" marB="30000">
                    <a:solidFill>
                      <a:srgbClr val="FFFFFF"/>
                    </a:solidFill>
                  </a:tcPr>
                </a:tc>
                <a:tc>
                  <a:txBody>
                    <a:bodyPr/>
                    <a:lstStyle/>
                    <a:p>
                      <a:r>
                        <a:rPr sz="1200" b="0">
                          <a:solidFill>
                            <a:srgbClr val="111214"/>
                          </a:solidFill>
                          <a:latin typeface="Arial"/>
                        </a:rPr>
                        <a:t>0.09</a:t>
                      </a:r>
                    </a:p>
                  </a:txBody>
                  <a:tcPr marL="70000" marR="70000" marT="30000" marB="30000">
                    <a:solidFill>
                      <a:srgbClr val="FFFFFF"/>
                    </a:solidFill>
                  </a:tcPr>
                </a:tc>
              </a:tr>
              <a:tr h="360000">
                <a:tc>
                  <a:txBody>
                    <a:bodyPr/>
                    <a:lstStyle/>
                    <a:p>
                      <a:r>
                        <a:rPr sz="1200" b="0">
                          <a:solidFill>
                            <a:srgbClr val="111214"/>
                          </a:solidFill>
                          <a:latin typeface="Arial"/>
                        </a:rPr>
                        <a:t>Podcast speaker B</a:t>
                      </a:r>
                    </a:p>
                  </a:txBody>
                  <a:tcPr marL="70000" marR="70000" marT="30000" marB="30000">
                    <a:solidFill>
                      <a:srgbClr val="F3F6FF"/>
                    </a:solidFill>
                  </a:tcPr>
                </a:tc>
                <a:tc>
                  <a:txBody>
                    <a:bodyPr/>
                    <a:lstStyle/>
                    <a:p>
                      <a:r>
                        <a:rPr sz="1200" b="0">
                          <a:solidFill>
                            <a:srgbClr val="111214"/>
                          </a:solidFill>
                          <a:latin typeface="Arial"/>
                        </a:rPr>
                        <a:t>0.00</a:t>
                      </a:r>
                    </a:p>
                  </a:txBody>
                  <a:tcPr marL="70000" marR="70000" marT="30000" marB="30000">
                    <a:solidFill>
                      <a:srgbClr val="F3F6FF"/>
                    </a:solidFill>
                  </a:tcPr>
                </a:tc>
              </a:tr>
              <a:tr h="360000">
                <a:tc>
                  <a:txBody>
                    <a:bodyPr/>
                    <a:lstStyle/>
                    <a:p>
                      <a:r>
                        <a:rPr sz="1200" b="0">
                          <a:solidFill>
                            <a:srgbClr val="111214"/>
                          </a:solidFill>
                          <a:latin typeface="Arial"/>
                        </a:rPr>
                        <a:t>Threshold</a:t>
                      </a:r>
                    </a:p>
                  </a:txBody>
                  <a:tcPr marL="70000" marR="70000" marT="30000" marB="30000">
                    <a:solidFill>
                      <a:srgbClr val="FFFFFF"/>
                    </a:solidFill>
                  </a:tcPr>
                </a:tc>
                <a:tc>
                  <a:txBody>
                    <a:bodyPr/>
                    <a:lstStyle/>
                    <a:p>
                      <a:r>
                        <a:rPr sz="1200" b="0">
                          <a:solidFill>
                            <a:srgbClr val="111214"/>
                          </a:solidFill>
                          <a:latin typeface="Arial"/>
                        </a:rPr>
                        <a:t>0.45</a:t>
                      </a:r>
                    </a:p>
                  </a:txBody>
                  <a:tcPr marL="70000" marR="70000" marT="30000" marB="30000">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